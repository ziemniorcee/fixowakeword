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"/>
      <p:bold r:id="rId18"/>
      <p:boldItalic r:id="rId19"/>
    </p:embeddedFont>
    <p:embeddedFont>
      <p:font typeface="Inter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a7c47fa5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a7c47fa5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a7c47fa5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a7c47fa5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a7c47fa58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a7c47fa58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a7c47fa58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a7c47fa58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a7c47fa58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a7c47fa58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a7c47fa58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a7c47fa58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a7c47fa58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a7c47fa58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a7c47fa58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a7c47fa58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a7c47fa58_0_1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a7c47fa58_0_1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a7c47fa58_0_1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a7c47fa58_0_1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a7c47fa58_0_1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a7c47fa58_0_1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324100"/>
            <a:ext cx="2819400" cy="281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3"/>
          <p:cNvGrpSpPr/>
          <p:nvPr/>
        </p:nvGrpSpPr>
        <p:grpSpPr>
          <a:xfrm>
            <a:off x="381000" y="381000"/>
            <a:ext cx="8382000" cy="952500"/>
            <a:chOff x="381000" y="381000"/>
            <a:chExt cx="8382000" cy="952500"/>
          </a:xfrm>
        </p:grpSpPr>
        <p:sp>
          <p:nvSpPr>
            <p:cNvPr id="56" name="Google Shape;56;p13"/>
            <p:cNvSpPr/>
            <p:nvPr/>
          </p:nvSpPr>
          <p:spPr>
            <a:xfrm>
              <a:off x="381000" y="381000"/>
              <a:ext cx="83820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571500" y="381000"/>
              <a:ext cx="800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36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Fikso </a:t>
              </a:r>
              <a:r>
                <a:rPr b="0" lang="pl" sz="36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Wake-Word</a:t>
              </a:r>
              <a:r>
                <a:rPr b="0" lang="pl" sz="36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Detector</a:t>
              </a:r>
              <a:endParaRPr b="0" sz="36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8" name="Google Shape;58;p13"/>
          <p:cNvGrpSpPr/>
          <p:nvPr/>
        </p:nvGrpSpPr>
        <p:grpSpPr>
          <a:xfrm>
            <a:off x="381000" y="1524000"/>
            <a:ext cx="8382150" cy="2667000"/>
            <a:chOff x="381000" y="1524000"/>
            <a:chExt cx="8382150" cy="2667000"/>
          </a:xfrm>
        </p:grpSpPr>
        <p:sp>
          <p:nvSpPr>
            <p:cNvPr id="59" name="Google Shape;59;p13"/>
            <p:cNvSpPr/>
            <p:nvPr/>
          </p:nvSpPr>
          <p:spPr>
            <a:xfrm>
              <a:off x="381000" y="1524000"/>
              <a:ext cx="40959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6667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target</a:t>
              </a:r>
              <a:endParaRPr sz="1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666750" y="2476500"/>
              <a:ext cx="3524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Cel projektu</a:t>
              </a:r>
              <a:endParaRPr b="1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Zbudować lekki detektor słowa aktywującego „Fikso”, który działa w trybie streamingowym i potrafi rozpoznać wypowiedziane hasło w czasie rzeczywistym.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667250" y="1524000"/>
              <a:ext cx="40959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 txBox="1"/>
            <p:nvPr/>
          </p:nvSpPr>
          <p:spPr>
            <a:xfrm>
              <a:off x="495300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37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7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4953000" y="2476500"/>
              <a:ext cx="3524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Kontekst</a:t>
              </a:r>
              <a:endParaRPr b="1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Projekt skupia się na polskim keyword spottingu, czyli wykrywaniu krótkiej frazy aktywacyjnej w sygnale audio.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4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70" name="Google Shape;70;p14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3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Demo</a:t>
              </a:r>
              <a:endParaRPr b="0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381000" y="1333500"/>
            <a:ext cx="8382000" cy="3238500"/>
            <a:chOff x="381000" y="1333500"/>
            <a:chExt cx="8382000" cy="3238500"/>
          </a:xfrm>
        </p:grpSpPr>
        <p:sp>
          <p:nvSpPr>
            <p:cNvPr id="73" name="Google Shape;73;p14"/>
            <p:cNvSpPr/>
            <p:nvPr/>
          </p:nvSpPr>
          <p:spPr>
            <a:xfrm>
              <a:off x="381000" y="1333500"/>
              <a:ext cx="8382000" cy="32385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762000" y="177292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37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settings_input_antenna</a:t>
              </a:r>
              <a:endParaRPr sz="37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762000" y="2476500"/>
              <a:ext cx="7620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2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Analiza w czasie rzeczywistym</a:t>
              </a:r>
              <a:endParaRPr b="1" sz="2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pl" sz="16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Detektor nie analizuje całego nagrania po fakcie, tylko reaguje na bieżący strumień audio.</a:t>
              </a:r>
              <a:endParaRPr b="0" sz="16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7143750" y="3048000"/>
            <a:ext cx="1905000" cy="1905000"/>
            <a:chOff x="7143750" y="3048000"/>
            <a:chExt cx="1905000" cy="1905000"/>
          </a:xfrm>
        </p:grpSpPr>
        <p:sp>
          <p:nvSpPr>
            <p:cNvPr id="77" name="Google Shape;77;p14"/>
            <p:cNvSpPr/>
            <p:nvPr/>
          </p:nvSpPr>
          <p:spPr>
            <a:xfrm>
              <a:off x="7143750" y="3048000"/>
              <a:ext cx="1905000" cy="1905000"/>
            </a:xfrm>
            <a:prstGeom prst="ellipse">
              <a:avLst/>
            </a:prstGeom>
            <a:solidFill>
              <a:srgbClr val="38BDF8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7429500" y="3333750"/>
              <a:ext cx="1333500" cy="1333500"/>
            </a:xfrm>
            <a:prstGeom prst="ellipse">
              <a:avLst/>
            </a:prstGeom>
            <a:solidFill>
              <a:srgbClr val="38BDF8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7715250" y="3619500"/>
              <a:ext cx="762000" cy="762000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85" name="Google Shape;85;p15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Problem badawczy i </a:t>
              </a:r>
              <a:r>
                <a:rPr b="0" lang="pl" sz="24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zastosowania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381000" y="1333500"/>
            <a:ext cx="8382000" cy="1238400"/>
            <a:chOff x="381000" y="1333500"/>
            <a:chExt cx="8382000" cy="1238400"/>
          </a:xfrm>
        </p:grpSpPr>
        <p:sp>
          <p:nvSpPr>
            <p:cNvPr id="88" name="Google Shape;88;p15"/>
            <p:cNvSpPr/>
            <p:nvPr/>
          </p:nvSpPr>
          <p:spPr>
            <a:xfrm>
              <a:off x="381000" y="1333500"/>
              <a:ext cx="8382000" cy="1238400"/>
            </a:xfrm>
            <a:prstGeom prst="roundRect">
              <a:avLst>
                <a:gd fmla="val 12307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666750" y="1476375"/>
              <a:ext cx="781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Wyzwanie: Specyfika języka polskiego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Większość datasetów dotyczy j. angielskiego. Dla polskiego danych jest mniej, a wymowa, akcent i fonetyka istotnie różnią się od benchmarków.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81000" y="2714625"/>
            <a:ext cx="8382000" cy="2190900"/>
            <a:chOff x="381000" y="2714625"/>
            <a:chExt cx="8382000" cy="2190900"/>
          </a:xfrm>
        </p:grpSpPr>
        <p:sp>
          <p:nvSpPr>
            <p:cNvPr id="91" name="Google Shape;91;p15"/>
            <p:cNvSpPr/>
            <p:nvPr/>
          </p:nvSpPr>
          <p:spPr>
            <a:xfrm>
              <a:off x="381000" y="2714625"/>
              <a:ext cx="8382000" cy="2190900"/>
            </a:xfrm>
            <a:prstGeom prst="roundRect">
              <a:avLst>
                <a:gd fmla="val 695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666750" y="29100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36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36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1381125" y="2857500"/>
              <a:ext cx="7096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Praktyczne zastosowania: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asystenci głosowi</a:t>
              </a:r>
              <a:endParaRPr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urządzenia lokalne/offline</a:t>
              </a:r>
              <a:endParaRPr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sterowanie aplikacją bez użycia rąk</a:t>
              </a:r>
              <a:endParaRPr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szybka aktywacja funkcji bez ciągłego rozpoznawania mowy</a:t>
              </a:r>
              <a:endParaRPr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99" name="Google Shape;99;p16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3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Struktura </a:t>
              </a:r>
              <a:r>
                <a:rPr b="0" lang="pl" sz="3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Datasetu</a:t>
              </a:r>
              <a:endParaRPr b="0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381000" y="1333500"/>
            <a:ext cx="8382000" cy="571500"/>
            <a:chOff x="381000" y="1333500"/>
            <a:chExt cx="8382000" cy="571500"/>
          </a:xfrm>
        </p:grpSpPr>
        <p:sp>
          <p:nvSpPr>
            <p:cNvPr id="102" name="Google Shape;102;p16"/>
            <p:cNvSpPr/>
            <p:nvPr/>
          </p:nvSpPr>
          <p:spPr>
            <a:xfrm>
              <a:off x="381000" y="1333500"/>
              <a:ext cx="83820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666750" y="1333500"/>
              <a:ext cx="7810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Dataset został podzielony na trzy główne typy przykładów, aby zapewnić wysoką precyzję detekcji: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381000" y="2095500"/>
            <a:ext cx="2603400" cy="2857500"/>
            <a:chOff x="381000" y="2095500"/>
            <a:chExt cx="2603400" cy="2857500"/>
          </a:xfrm>
        </p:grpSpPr>
        <p:sp>
          <p:nvSpPr>
            <p:cNvPr id="105" name="Google Shape;105;p16"/>
            <p:cNvSpPr/>
            <p:nvPr/>
          </p:nvSpPr>
          <p:spPr>
            <a:xfrm>
              <a:off x="381000" y="2095500"/>
              <a:ext cx="2603400" cy="2857500"/>
            </a:xfrm>
            <a:prstGeom prst="roundRect">
              <a:avLst>
                <a:gd fmla="val 585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571500" y="2329815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3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3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571500" y="2857500"/>
              <a:ext cx="22224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Pozytywy</a:t>
              </a:r>
              <a:endParaRPr b="1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Nagrania lub próbki zawierające słowo „Fikso”. Stanowią bazę wzorcową dla modelu.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3270218" y="2095500"/>
            <a:ext cx="2603400" cy="2857500"/>
            <a:chOff x="3270218" y="2095500"/>
            <a:chExt cx="2603400" cy="2857500"/>
          </a:xfrm>
        </p:grpSpPr>
        <p:sp>
          <p:nvSpPr>
            <p:cNvPr id="109" name="Google Shape;109;p16"/>
            <p:cNvSpPr/>
            <p:nvPr/>
          </p:nvSpPr>
          <p:spPr>
            <a:xfrm>
              <a:off x="3270218" y="2095500"/>
              <a:ext cx="2603400" cy="2857500"/>
            </a:xfrm>
            <a:prstGeom prst="roundRect">
              <a:avLst>
                <a:gd fmla="val 585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3460718" y="2329815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3000">
                  <a:solidFill>
                    <a:srgbClr val="F8717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</a:t>
              </a:r>
              <a:endParaRPr sz="3000">
                <a:solidFill>
                  <a:srgbClr val="F8717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3460718" y="2857500"/>
              <a:ext cx="22224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8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Hard negatives</a:t>
              </a:r>
              <a:endParaRPr b="1" sz="1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Przykłady podobne brzmieniowo lub trudne dla modelu, ale niebędące właściwym wake-wordem.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6159436" y="2095500"/>
            <a:ext cx="2603400" cy="2857500"/>
            <a:chOff x="6159437" y="2095500"/>
            <a:chExt cx="2603400" cy="2857500"/>
          </a:xfrm>
        </p:grpSpPr>
        <p:sp>
          <p:nvSpPr>
            <p:cNvPr id="113" name="Google Shape;113;p16"/>
            <p:cNvSpPr/>
            <p:nvPr/>
          </p:nvSpPr>
          <p:spPr>
            <a:xfrm>
              <a:off x="6159436" y="2095500"/>
              <a:ext cx="2603400" cy="2857500"/>
            </a:xfrm>
            <a:prstGeom prst="roundRect">
              <a:avLst>
                <a:gd fmla="val 585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6349936" y="2329815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30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noise_aware</a:t>
              </a:r>
              <a:endParaRPr sz="30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6349936" y="2857500"/>
              <a:ext cx="22224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Normal negatives</a:t>
              </a:r>
              <a:endParaRPr b="1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Zwykłe tło, cisza, losowe wypowiedzi lub dźwięki niezawierające słowa aktywującego.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7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121" name="Google Shape;121;p17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Ograniczenie </a:t>
              </a:r>
              <a:r>
                <a:rPr b="0" lang="pl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danych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23" name="Google Shape;123;p17"/>
          <p:cNvGrpSpPr/>
          <p:nvPr/>
        </p:nvGrpSpPr>
        <p:grpSpPr>
          <a:xfrm>
            <a:off x="381000" y="1333500"/>
            <a:ext cx="8382000" cy="1428900"/>
            <a:chOff x="381000" y="1333500"/>
            <a:chExt cx="8382000" cy="1428900"/>
          </a:xfrm>
        </p:grpSpPr>
        <p:sp>
          <p:nvSpPr>
            <p:cNvPr id="124" name="Google Shape;124;p17"/>
            <p:cNvSpPr/>
            <p:nvPr/>
          </p:nvSpPr>
          <p:spPr>
            <a:xfrm>
              <a:off x="381000" y="1333500"/>
              <a:ext cx="8382000" cy="1428900"/>
            </a:xfrm>
            <a:prstGeom prst="roundRect">
              <a:avLst>
                <a:gd fmla="val 1066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666750" y="1476375"/>
              <a:ext cx="7810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Charakterystyka zbioru danych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Bazowy dataset częściowo opiera się na danych syntetycznych. To pozwala szybko zbudować prototyp i kontrolować liczbę przykładów, ale nie zastępuje prawdziwego środowiska akustycznego.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7"/>
          <p:cNvGrpSpPr/>
          <p:nvPr/>
        </p:nvGrpSpPr>
        <p:grpSpPr>
          <a:xfrm>
            <a:off x="381000" y="2905125"/>
            <a:ext cx="8382000" cy="2000100"/>
            <a:chOff x="381000" y="2905125"/>
            <a:chExt cx="8382000" cy="2000100"/>
          </a:xfrm>
        </p:grpSpPr>
        <p:sp>
          <p:nvSpPr>
            <p:cNvPr id="127" name="Google Shape;127;p17"/>
            <p:cNvSpPr/>
            <p:nvPr/>
          </p:nvSpPr>
          <p:spPr>
            <a:xfrm>
              <a:off x="381000" y="2905125"/>
              <a:ext cx="8382000" cy="2000100"/>
            </a:xfrm>
            <a:prstGeom prst="roundRect">
              <a:avLst>
                <a:gd fmla="val 7619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666750" y="3148203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3600">
                  <a:solidFill>
                    <a:srgbClr val="F8717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b="0" sz="3600">
                <a:solidFill>
                  <a:srgbClr val="F8717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1381125" y="3095625"/>
              <a:ext cx="70962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Najważniejsze ryzyko</a:t>
              </a:r>
              <a:endParaRPr b="1" sz="16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Model może dobrze działać na syntetycznych przykładach, ale gorzej radzić sobie z realnymi wyzwaniami: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Inter"/>
                <a:buChar char="●"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Realne tło akustyczne i hałas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Inter"/>
                <a:buChar char="●"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Różnorodność mikrofonów i pogłos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Inter"/>
                <a:buChar char="●"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Szerokie spektrum ludzkich głosów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8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136" name="Google Shape;136;p18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32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Pipeline </a:t>
              </a:r>
              <a:r>
                <a:rPr b="0" lang="pl" sz="32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detekcji</a:t>
              </a:r>
              <a:endParaRPr b="0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38" name="Google Shape;138;p18"/>
          <p:cNvGrpSpPr/>
          <p:nvPr/>
        </p:nvGrpSpPr>
        <p:grpSpPr>
          <a:xfrm>
            <a:off x="381000" y="1333500"/>
            <a:ext cx="8382000" cy="952500"/>
            <a:chOff x="381000" y="1333500"/>
            <a:chExt cx="8382000" cy="952500"/>
          </a:xfrm>
        </p:grpSpPr>
        <p:sp>
          <p:nvSpPr>
            <p:cNvPr id="139" name="Google Shape;139;p18"/>
            <p:cNvSpPr/>
            <p:nvPr/>
          </p:nvSpPr>
          <p:spPr>
            <a:xfrm>
              <a:off x="381000" y="1333500"/>
              <a:ext cx="8382000" cy="9525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666750" y="1333500"/>
              <a:ext cx="781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Przepływ danych: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pl" sz="1400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waveform </a:t>
              </a:r>
              <a:r>
                <a:rPr b="1" lang="pl" sz="18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→</a:t>
              </a:r>
              <a:r>
                <a:rPr b="1" lang="pl" sz="1800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pl" sz="1400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log-mel spectrogram </a:t>
              </a:r>
              <a:r>
                <a:rPr b="1" lang="pl" sz="18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→</a:t>
              </a:r>
              <a:r>
                <a:rPr b="1" lang="pl" sz="1400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CNN </a:t>
              </a:r>
              <a:r>
                <a:rPr b="1" lang="pl" sz="18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→</a:t>
              </a:r>
              <a:r>
                <a:rPr b="1" lang="pl" sz="1400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probability </a:t>
              </a:r>
              <a:r>
                <a:rPr b="1" lang="pl" sz="18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→</a:t>
              </a:r>
              <a:r>
                <a:rPr b="1" lang="pl" sz="1400">
                  <a:solidFill>
                    <a:srgbClr val="CBD5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streaming head</a:t>
              </a:r>
              <a:endParaRPr b="1" sz="14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381000" y="2476500"/>
            <a:ext cx="2600400" cy="2190900"/>
            <a:chOff x="381000" y="2476500"/>
            <a:chExt cx="2600400" cy="2190900"/>
          </a:xfrm>
        </p:grpSpPr>
        <p:sp>
          <p:nvSpPr>
            <p:cNvPr id="142" name="Google Shape;142;p18"/>
            <p:cNvSpPr/>
            <p:nvPr/>
          </p:nvSpPr>
          <p:spPr>
            <a:xfrm>
              <a:off x="381000" y="2476500"/>
              <a:ext cx="2600400" cy="2190900"/>
            </a:xfrm>
            <a:prstGeom prst="roundRect">
              <a:avLst>
                <a:gd fmla="val 695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571500" y="2654427"/>
              <a:ext cx="2219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graphic_eq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571500" y="3143250"/>
              <a:ext cx="2219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Przetwarzanie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l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Surowy dźwięk jest zamieniany na reprezentację czasowo-częstotliwościową.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8"/>
          <p:cNvGrpSpPr/>
          <p:nvPr/>
        </p:nvGrpSpPr>
        <p:grpSpPr>
          <a:xfrm>
            <a:off x="3267075" y="2476500"/>
            <a:ext cx="2600400" cy="2190900"/>
            <a:chOff x="3267075" y="2476500"/>
            <a:chExt cx="2600400" cy="2190900"/>
          </a:xfrm>
        </p:grpSpPr>
        <p:sp>
          <p:nvSpPr>
            <p:cNvPr id="146" name="Google Shape;146;p18"/>
            <p:cNvSpPr/>
            <p:nvPr/>
          </p:nvSpPr>
          <p:spPr>
            <a:xfrm>
              <a:off x="3267075" y="2476500"/>
              <a:ext cx="2600400" cy="2190900"/>
            </a:xfrm>
            <a:prstGeom prst="roundRect">
              <a:avLst>
                <a:gd fmla="val 695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3457575" y="2654427"/>
              <a:ext cx="2219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3457575" y="3143250"/>
              <a:ext cx="2219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Klasyfikacja CNN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l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CNN klasyfikuje fragment audio i zwraca prawdopodobieństwo wystąpienia wake-worda.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6162675" y="2476500"/>
            <a:ext cx="2600400" cy="2190900"/>
            <a:chOff x="6162675" y="2476500"/>
            <a:chExt cx="2600400" cy="2190900"/>
          </a:xfrm>
        </p:grpSpPr>
        <p:sp>
          <p:nvSpPr>
            <p:cNvPr id="150" name="Google Shape;150;p18"/>
            <p:cNvSpPr/>
            <p:nvPr/>
          </p:nvSpPr>
          <p:spPr>
            <a:xfrm>
              <a:off x="6162675" y="2476500"/>
              <a:ext cx="2600400" cy="2190900"/>
            </a:xfrm>
            <a:prstGeom prst="roundRect">
              <a:avLst>
                <a:gd fmla="val 695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6353175" y="2654427"/>
              <a:ext cx="2219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pending_actions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6353175" y="3143250"/>
              <a:ext cx="2219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Streaming Head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l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Warstwa streamingowa agreguje wyniki w czasie i decyduje o zgłoszeniu detekcji.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9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159" name="Google Shape;159;p19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Dlaczego </a:t>
              </a:r>
              <a:r>
                <a:rPr b="0" lang="pl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CNN</a:t>
              </a:r>
              <a:r>
                <a:rPr b="0" lang="pl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na spektrogramach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381000" y="1333500"/>
            <a:ext cx="8382000" cy="1238400"/>
            <a:chOff x="381000" y="1333500"/>
            <a:chExt cx="8382000" cy="1238400"/>
          </a:xfrm>
        </p:grpSpPr>
        <p:sp>
          <p:nvSpPr>
            <p:cNvPr id="162" name="Google Shape;162;p19"/>
            <p:cNvSpPr/>
            <p:nvPr/>
          </p:nvSpPr>
          <p:spPr>
            <a:xfrm>
              <a:off x="381000" y="1333500"/>
              <a:ext cx="8382000" cy="1238400"/>
            </a:xfrm>
            <a:prstGeom prst="roundRect">
              <a:avLst>
                <a:gd fmla="val 12307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666750" y="1476375"/>
              <a:ext cx="781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Spektrogram jako obraz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Jedna oś opisuje czas, druga częstotliwość, a wartości reprezentują energię sygnału. CNN potrafi wykrywać lokalne wzorce, np. przejścia fonetyczne i kształty energii.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381000" y="2714625"/>
            <a:ext cx="8382000" cy="476400"/>
            <a:chOff x="381000" y="2714625"/>
            <a:chExt cx="8382000" cy="476400"/>
          </a:xfrm>
        </p:grpSpPr>
        <p:sp>
          <p:nvSpPr>
            <p:cNvPr id="165" name="Google Shape;165;p19"/>
            <p:cNvSpPr/>
            <p:nvPr/>
          </p:nvSpPr>
          <p:spPr>
            <a:xfrm>
              <a:off x="381000" y="2714625"/>
              <a:ext cx="8382000" cy="476400"/>
            </a:xfrm>
            <a:prstGeom prst="roundRect">
              <a:avLst>
                <a:gd fmla="val 24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666750" y="2714625"/>
              <a:ext cx="781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Kluczowe korzyści: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381000" y="3286125"/>
            <a:ext cx="1952700" cy="1666800"/>
            <a:chOff x="381000" y="3286125"/>
            <a:chExt cx="1952700" cy="1666800"/>
          </a:xfrm>
        </p:grpSpPr>
        <p:sp>
          <p:nvSpPr>
            <p:cNvPr id="168" name="Google Shape;168;p19"/>
            <p:cNvSpPr/>
            <p:nvPr/>
          </p:nvSpPr>
          <p:spPr>
            <a:xfrm>
              <a:off x="381000" y="3286125"/>
              <a:ext cx="1952700" cy="1666800"/>
            </a:xfrm>
            <a:prstGeom prst="roundRect">
              <a:avLst>
                <a:gd fmla="val 9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523875" y="3469894"/>
              <a:ext cx="166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38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aspect_ratio</a:t>
              </a:r>
              <a:endParaRPr sz="238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523875" y="3905250"/>
              <a:ext cx="16668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Mały model</a:t>
              </a:r>
              <a:endParaRPr b="1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Zoptymalizowana architektura CNN.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19"/>
          <p:cNvGrpSpPr/>
          <p:nvPr/>
        </p:nvGrpSpPr>
        <p:grpSpPr>
          <a:xfrm>
            <a:off x="2524125" y="3286125"/>
            <a:ext cx="1952700" cy="1666800"/>
            <a:chOff x="2524125" y="3286125"/>
            <a:chExt cx="1952700" cy="1666800"/>
          </a:xfrm>
        </p:grpSpPr>
        <p:sp>
          <p:nvSpPr>
            <p:cNvPr id="172" name="Google Shape;172;p19"/>
            <p:cNvSpPr/>
            <p:nvPr/>
          </p:nvSpPr>
          <p:spPr>
            <a:xfrm>
              <a:off x="2524125" y="3286125"/>
              <a:ext cx="1952700" cy="1666800"/>
            </a:xfrm>
            <a:prstGeom prst="roundRect">
              <a:avLst>
                <a:gd fmla="val 9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2667000" y="3469894"/>
              <a:ext cx="166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38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38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2667000" y="3905250"/>
              <a:ext cx="16668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Szybka inferencja</a:t>
              </a:r>
              <a:endParaRPr b="1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Przetwarzanie w czasie rzeczywistym.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19"/>
          <p:cNvGrpSpPr/>
          <p:nvPr/>
        </p:nvGrpSpPr>
        <p:grpSpPr>
          <a:xfrm>
            <a:off x="4667250" y="3286125"/>
            <a:ext cx="1952700" cy="1666800"/>
            <a:chOff x="4667250" y="3286125"/>
            <a:chExt cx="1952700" cy="1666800"/>
          </a:xfrm>
        </p:grpSpPr>
        <p:sp>
          <p:nvSpPr>
            <p:cNvPr id="176" name="Google Shape;176;p19"/>
            <p:cNvSpPr/>
            <p:nvPr/>
          </p:nvSpPr>
          <p:spPr>
            <a:xfrm>
              <a:off x="4667250" y="3286125"/>
              <a:ext cx="1952700" cy="1666800"/>
            </a:xfrm>
            <a:prstGeom prst="roundRect">
              <a:avLst>
                <a:gd fmla="val 9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4810125" y="3469894"/>
              <a:ext cx="166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38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38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4810125" y="3905250"/>
              <a:ext cx="16668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Edge Devices</a:t>
              </a:r>
              <a:endParaRPr b="1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Zgodność z urządzeniami lokalnymi.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9" name="Google Shape;179;p19"/>
          <p:cNvGrpSpPr/>
          <p:nvPr/>
        </p:nvGrpSpPr>
        <p:grpSpPr>
          <a:xfrm>
            <a:off x="6810375" y="3286125"/>
            <a:ext cx="1952700" cy="1666800"/>
            <a:chOff x="6810375" y="3286125"/>
            <a:chExt cx="1952700" cy="1666800"/>
          </a:xfrm>
        </p:grpSpPr>
        <p:sp>
          <p:nvSpPr>
            <p:cNvPr id="180" name="Google Shape;180;p19"/>
            <p:cNvSpPr/>
            <p:nvPr/>
          </p:nvSpPr>
          <p:spPr>
            <a:xfrm>
              <a:off x="6810375" y="3286125"/>
              <a:ext cx="1952700" cy="1666800"/>
            </a:xfrm>
            <a:prstGeom prst="roundRect">
              <a:avLst>
                <a:gd fmla="val 9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6953250" y="3469894"/>
              <a:ext cx="166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38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38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6953250" y="3905250"/>
              <a:ext cx="16668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Prosty deployment</a:t>
              </a:r>
              <a:endParaRPr b="1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pl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Lżejszy niż duże modele STT.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0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188" name="Google Shape;188;p20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Szczegóły </a:t>
              </a:r>
              <a:r>
                <a:rPr b="0" lang="pl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treningu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381000" y="1285875"/>
            <a:ext cx="8382000" cy="666900"/>
            <a:chOff x="381000" y="1285875"/>
            <a:chExt cx="8382000" cy="666900"/>
          </a:xfrm>
        </p:grpSpPr>
        <p:sp>
          <p:nvSpPr>
            <p:cNvPr id="191" name="Google Shape;191;p20"/>
            <p:cNvSpPr/>
            <p:nvPr/>
          </p:nvSpPr>
          <p:spPr>
            <a:xfrm>
              <a:off x="381000" y="1285875"/>
              <a:ext cx="8382000" cy="666900"/>
            </a:xfrm>
            <a:prstGeom prst="roundRect">
              <a:avLst>
                <a:gd fmla="val 22857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666750" y="1285875"/>
              <a:ext cx="7810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Trening był prowadzony na </a:t>
              </a:r>
              <a:r>
                <a:rPr b="1" lang="pl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stałym podziale danych</a:t>
              </a:r>
              <a:r>
                <a:rPr b="0" lang="pl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, żeby wyniki między eksperymentami były porównywalne.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381000" y="2095500"/>
            <a:ext cx="8382000" cy="2190900"/>
            <a:chOff x="381000" y="2095500"/>
            <a:chExt cx="8382000" cy="2190900"/>
          </a:xfrm>
        </p:grpSpPr>
        <p:sp>
          <p:nvSpPr>
            <p:cNvPr id="194" name="Google Shape;194;p20"/>
            <p:cNvSpPr/>
            <p:nvPr/>
          </p:nvSpPr>
          <p:spPr>
            <a:xfrm>
              <a:off x="381000" y="2095500"/>
              <a:ext cx="8382000" cy="2190900"/>
            </a:xfrm>
            <a:prstGeom prst="roundRect">
              <a:avLst>
                <a:gd fmla="val 695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666750" y="22860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Elementy treningu: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666750" y="2667000"/>
              <a:ext cx="7810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augmentacja danych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osobny zbiór walidacyjny/testowy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zapis checkpointów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kontrola rozmiaru modelu oraz pomiar czasu działania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381000" y="4429125"/>
            <a:ext cx="8382000" cy="666900"/>
            <a:chOff x="381000" y="4429125"/>
            <a:chExt cx="8382000" cy="666900"/>
          </a:xfrm>
        </p:grpSpPr>
        <p:sp>
          <p:nvSpPr>
            <p:cNvPr id="198" name="Google Shape;198;p20"/>
            <p:cNvSpPr/>
            <p:nvPr/>
          </p:nvSpPr>
          <p:spPr>
            <a:xfrm>
              <a:off x="381000" y="4429125"/>
              <a:ext cx="8382000" cy="666900"/>
            </a:xfrm>
            <a:prstGeom prst="roundRect">
              <a:avLst>
                <a:gd fmla="val 17142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571500" y="4559427"/>
              <a:ext cx="38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endParaRPr b="0"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1047750" y="4429125"/>
              <a:ext cx="742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Celem nie było tylko uzyskanie wysokiej accuracy, ale też sprawdzenie, czy model </a:t>
              </a:r>
              <a:r>
                <a:rPr b="1" lang="pl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nadaje się do użycia lokalnie</a:t>
              </a: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1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206" name="Google Shape;206;p21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Metryki klasyfikacji na </a:t>
              </a:r>
              <a:r>
                <a:rPr b="0" lang="pl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held-out set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381000" y="1285875"/>
            <a:ext cx="8382000" cy="571500"/>
            <a:chOff x="381000" y="1285875"/>
            <a:chExt cx="8382000" cy="571500"/>
          </a:xfrm>
        </p:grpSpPr>
        <p:sp>
          <p:nvSpPr>
            <p:cNvPr id="209" name="Google Shape;209;p21"/>
            <p:cNvSpPr/>
            <p:nvPr/>
          </p:nvSpPr>
          <p:spPr>
            <a:xfrm>
              <a:off x="381000" y="1285875"/>
              <a:ext cx="83820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666750" y="1285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Na zbiorze testowym mierzymy, czy model rozróżnia próbki pozytywne od negatywnych.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" name="Google Shape;211;p21"/>
          <p:cNvGrpSpPr/>
          <p:nvPr/>
        </p:nvGrpSpPr>
        <p:grpSpPr>
          <a:xfrm>
            <a:off x="381000" y="2000250"/>
            <a:ext cx="8382000" cy="2190900"/>
            <a:chOff x="381000" y="2000250"/>
            <a:chExt cx="8382000" cy="2190900"/>
          </a:xfrm>
        </p:grpSpPr>
        <p:sp>
          <p:nvSpPr>
            <p:cNvPr id="212" name="Google Shape;212;p21"/>
            <p:cNvSpPr/>
            <p:nvPr/>
          </p:nvSpPr>
          <p:spPr>
            <a:xfrm>
              <a:off x="381000" y="2000250"/>
              <a:ext cx="8382000" cy="2190900"/>
            </a:xfrm>
            <a:prstGeom prst="roundRect">
              <a:avLst>
                <a:gd fmla="val 695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666750" y="219075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Najważniejsze metryki: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666750" y="2619375"/>
              <a:ext cx="7810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1"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precision:</a:t>
              </a: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ile wykryć było poprawnych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1"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recall:</a:t>
              </a: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ile prawdziwych wypowiedzi „Fikso” model znalazł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1"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F1-score:</a:t>
              </a: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kompromis między precision i recall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1"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confusion matrix:</a:t>
              </a: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typy pomyłek modelu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5" name="Google Shape;215;p21"/>
          <p:cNvGrpSpPr/>
          <p:nvPr/>
        </p:nvGrpSpPr>
        <p:grpSpPr>
          <a:xfrm>
            <a:off x="381000" y="4333875"/>
            <a:ext cx="8382000" cy="714300"/>
            <a:chOff x="381000" y="4333875"/>
            <a:chExt cx="8382000" cy="714300"/>
          </a:xfrm>
        </p:grpSpPr>
        <p:sp>
          <p:nvSpPr>
            <p:cNvPr id="216" name="Google Shape;216;p21"/>
            <p:cNvSpPr/>
            <p:nvPr/>
          </p:nvSpPr>
          <p:spPr>
            <a:xfrm>
              <a:off x="381000" y="4333875"/>
              <a:ext cx="8382000" cy="714300"/>
            </a:xfrm>
            <a:prstGeom prst="roundRect">
              <a:avLst>
                <a:gd fmla="val 16000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571500" y="4487990"/>
              <a:ext cx="38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400">
                  <a:solidFill>
                    <a:srgbClr val="F8717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F8717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1047750" y="4333875"/>
              <a:ext cx="742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 keyword spottingu sama accuracy może być myląca, bo negatywów zwykle jest dużo więcej niż pozytywów.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2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224" name="Google Shape;224;p22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Metryka </a:t>
              </a:r>
              <a:r>
                <a:rPr b="0" lang="pl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praktyczna</a:t>
              </a:r>
              <a:r>
                <a:rPr b="0" lang="pl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: Fałszywe alarmy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6" name="Google Shape;226;p22"/>
          <p:cNvGrpSpPr/>
          <p:nvPr/>
        </p:nvGrpSpPr>
        <p:grpSpPr>
          <a:xfrm>
            <a:off x="381000" y="1285875"/>
            <a:ext cx="8382000" cy="666900"/>
            <a:chOff x="381000" y="1285875"/>
            <a:chExt cx="8382000" cy="666900"/>
          </a:xfrm>
        </p:grpSpPr>
        <p:sp>
          <p:nvSpPr>
            <p:cNvPr id="227" name="Google Shape;227;p22"/>
            <p:cNvSpPr/>
            <p:nvPr/>
          </p:nvSpPr>
          <p:spPr>
            <a:xfrm>
              <a:off x="381000" y="1285875"/>
              <a:ext cx="83820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666750" y="1285875"/>
              <a:ext cx="7810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Kluczowe jest nie tylko wykrywanie hasła, ale też to, </a:t>
              </a:r>
              <a:r>
                <a:rPr b="1" lang="pl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jak często system aktywuje się przypadkowo</a:t>
              </a:r>
              <a:r>
                <a:rPr b="0" lang="pl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9" name="Google Shape;229;p22"/>
          <p:cNvGrpSpPr/>
          <p:nvPr/>
        </p:nvGrpSpPr>
        <p:grpSpPr>
          <a:xfrm>
            <a:off x="381000" y="2095500"/>
            <a:ext cx="8382000" cy="2190900"/>
            <a:chOff x="381000" y="2095500"/>
            <a:chExt cx="8382000" cy="2190900"/>
          </a:xfrm>
        </p:grpSpPr>
        <p:sp>
          <p:nvSpPr>
            <p:cNvPr id="230" name="Google Shape;230;p22"/>
            <p:cNvSpPr/>
            <p:nvPr/>
          </p:nvSpPr>
          <p:spPr>
            <a:xfrm>
              <a:off x="381000" y="2095500"/>
              <a:ext cx="8382000" cy="2190900"/>
            </a:xfrm>
            <a:prstGeom prst="roundRect">
              <a:avLst>
                <a:gd fmla="val 695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666750" y="22860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False Alarms per Hour (FAH)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666750" y="2762250"/>
              <a:ext cx="7810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1"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Definicja:</a:t>
              </a: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Liczba fałszywych alarmów na godzinę nagrania tła.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1"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Znaczenie:</a:t>
              </a: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To ważniejsze od samej klasyfikacji (Precision/Recall).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1" lang="pl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Zaufanie:</a:t>
              </a: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Użytkownik traci zaufanie do systemu, który aktywuje się bez powodu.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3" name="Google Shape;233;p22"/>
          <p:cNvGrpSpPr/>
          <p:nvPr/>
        </p:nvGrpSpPr>
        <p:grpSpPr>
          <a:xfrm>
            <a:off x="381000" y="4429125"/>
            <a:ext cx="8382000" cy="666900"/>
            <a:chOff x="381000" y="4429125"/>
            <a:chExt cx="8382000" cy="666900"/>
          </a:xfrm>
        </p:grpSpPr>
        <p:sp>
          <p:nvSpPr>
            <p:cNvPr id="234" name="Google Shape;234;p22"/>
            <p:cNvSpPr/>
            <p:nvPr/>
          </p:nvSpPr>
          <p:spPr>
            <a:xfrm>
              <a:off x="381000" y="4429125"/>
              <a:ext cx="8382000" cy="666900"/>
            </a:xfrm>
            <a:prstGeom prst="roundRect">
              <a:avLst>
                <a:gd fmla="val 17142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571500" y="4559427"/>
              <a:ext cx="38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notifications_off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6" name="Google Shape;236;p22"/>
            <p:cNvSpPr txBox="1"/>
            <p:nvPr/>
          </p:nvSpPr>
          <p:spPr>
            <a:xfrm>
              <a:off x="1047750" y="4429125"/>
              <a:ext cx="742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Minimalizacja FAH jest krytyczna dla komfortu użytkowania urządzeń typu "always-on".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23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242" name="Google Shape;242;p23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3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Analiza</a:t>
              </a:r>
              <a:r>
                <a:rPr b="0" lang="pl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błędów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44" name="Google Shape;244;p23"/>
          <p:cNvGrpSpPr/>
          <p:nvPr/>
        </p:nvGrpSpPr>
        <p:grpSpPr>
          <a:xfrm>
            <a:off x="381000" y="1285875"/>
            <a:ext cx="8382000" cy="571500"/>
            <a:chOff x="381000" y="1285875"/>
            <a:chExt cx="8382000" cy="571500"/>
          </a:xfrm>
        </p:grpSpPr>
        <p:sp>
          <p:nvSpPr>
            <p:cNvPr id="245" name="Google Shape;245;p23"/>
            <p:cNvSpPr/>
            <p:nvPr/>
          </p:nvSpPr>
          <p:spPr>
            <a:xfrm>
              <a:off x="381000" y="1285875"/>
              <a:ext cx="83820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3"/>
            <p:cNvSpPr txBox="1"/>
            <p:nvPr/>
          </p:nvSpPr>
          <p:spPr>
            <a:xfrm>
              <a:off x="666750" y="1285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Po treningu warto przejrzeć </a:t>
              </a:r>
              <a:r>
                <a:rPr b="1" lang="pl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konkretne przypadki błędów</a:t>
              </a:r>
              <a:r>
                <a:rPr b="0" lang="pl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, a nie tylko tabelę z metrykami.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7" name="Google Shape;247;p23"/>
          <p:cNvGrpSpPr/>
          <p:nvPr/>
        </p:nvGrpSpPr>
        <p:grpSpPr>
          <a:xfrm>
            <a:off x="381000" y="2000250"/>
            <a:ext cx="8382000" cy="2190900"/>
            <a:chOff x="381000" y="2000250"/>
            <a:chExt cx="8382000" cy="2190900"/>
          </a:xfrm>
        </p:grpSpPr>
        <p:sp>
          <p:nvSpPr>
            <p:cNvPr id="248" name="Google Shape;248;p23"/>
            <p:cNvSpPr/>
            <p:nvPr/>
          </p:nvSpPr>
          <p:spPr>
            <a:xfrm>
              <a:off x="381000" y="2000250"/>
              <a:ext cx="8382000" cy="2190900"/>
            </a:xfrm>
            <a:prstGeom prst="roundRect">
              <a:avLst>
                <a:gd fmla="val 695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666750" y="219075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Przykłady błędów: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666750" y="2619375"/>
              <a:ext cx="7810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model myli podobnie brzmiące słowo z </a:t>
              </a:r>
              <a:r>
                <a:rPr b="1" lang="pl" sz="13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„Fikso”</a:t>
              </a:r>
              <a:endParaRPr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model nie wykrywa </a:t>
              </a:r>
              <a:r>
                <a:rPr b="1" lang="pl" sz="13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cichego lub zniekształconego</a:t>
              </a: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wypowiedzenia</a:t>
              </a:r>
              <a:endParaRPr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model reaguje na </a:t>
              </a:r>
              <a:r>
                <a:rPr b="1" lang="pl" sz="13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fragment tła</a:t>
              </a:r>
              <a:r>
                <a:rPr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z podobnym rytmem lub energią</a:t>
              </a:r>
              <a:endParaRPr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1" name="Google Shape;251;p23"/>
          <p:cNvGrpSpPr/>
          <p:nvPr/>
        </p:nvGrpSpPr>
        <p:grpSpPr>
          <a:xfrm>
            <a:off x="381000" y="4333875"/>
            <a:ext cx="8382000" cy="714300"/>
            <a:chOff x="381000" y="4333875"/>
            <a:chExt cx="8382000" cy="714300"/>
          </a:xfrm>
        </p:grpSpPr>
        <p:sp>
          <p:nvSpPr>
            <p:cNvPr id="252" name="Google Shape;252;p23"/>
            <p:cNvSpPr/>
            <p:nvPr/>
          </p:nvSpPr>
          <p:spPr>
            <a:xfrm>
              <a:off x="381000" y="4333875"/>
              <a:ext cx="8382000" cy="714300"/>
            </a:xfrm>
            <a:prstGeom prst="roundRect">
              <a:avLst>
                <a:gd fmla="val 16000" name="adj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571500" y="4492752"/>
              <a:ext cx="38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troubleshoot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1047750" y="4333875"/>
              <a:ext cx="742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Analiza takich przykładów wskazuje, </a:t>
              </a:r>
              <a:r>
                <a:rPr b="1" lang="pl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jakie dane trzeba dograć</a:t>
              </a:r>
              <a:r>
                <a:rPr b="0" lang="pl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albo jak zmienić próg detekcji.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4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260" name="Google Shape;260;p24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571500" y="3810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l" sz="24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 zadziałało i co </a:t>
              </a:r>
              <a:r>
                <a:rPr b="0" lang="pl" sz="24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wymaga poprawy</a:t>
              </a:r>
              <a:endParaRPr b="0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62" name="Google Shape;262;p24"/>
          <p:cNvGrpSpPr/>
          <p:nvPr/>
        </p:nvGrpSpPr>
        <p:grpSpPr>
          <a:xfrm>
            <a:off x="381000" y="1333500"/>
            <a:ext cx="4048200" cy="3238500"/>
            <a:chOff x="381000" y="1333500"/>
            <a:chExt cx="4048200" cy="3238500"/>
          </a:xfrm>
        </p:grpSpPr>
        <p:sp>
          <p:nvSpPr>
            <p:cNvPr id="263" name="Google Shape;263;p24"/>
            <p:cNvSpPr/>
            <p:nvPr/>
          </p:nvSpPr>
          <p:spPr>
            <a:xfrm>
              <a:off x="381000" y="1333500"/>
              <a:ext cx="4048200" cy="32385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571500" y="1524000"/>
              <a:ext cx="3667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Co zadziałało: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5" name="Google Shape;265;p24"/>
            <p:cNvSpPr txBox="1"/>
            <p:nvPr/>
          </p:nvSpPr>
          <p:spPr>
            <a:xfrm>
              <a:off x="571500" y="200025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prosty pipeline audio do spektrogramu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CNN jako lekki klasyfikator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streamingowa detekcja z progiem prawdopodobieństwa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testowanie false alarms na tle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6" name="Google Shape;266;p24"/>
          <p:cNvGrpSpPr/>
          <p:nvPr/>
        </p:nvGrpSpPr>
        <p:grpSpPr>
          <a:xfrm>
            <a:off x="4714875" y="1333500"/>
            <a:ext cx="4048200" cy="3238500"/>
            <a:chOff x="4714875" y="1333500"/>
            <a:chExt cx="4048200" cy="3238500"/>
          </a:xfrm>
        </p:grpSpPr>
        <p:sp>
          <p:nvSpPr>
            <p:cNvPr id="267" name="Google Shape;267;p24"/>
            <p:cNvSpPr/>
            <p:nvPr/>
          </p:nvSpPr>
          <p:spPr>
            <a:xfrm>
              <a:off x="4714875" y="1333500"/>
              <a:ext cx="4048200" cy="32385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4"/>
            <p:cNvSpPr txBox="1"/>
            <p:nvPr/>
          </p:nvSpPr>
          <p:spPr>
            <a:xfrm>
              <a:off x="4905375" y="1524000"/>
              <a:ext cx="3667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6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Co wymaga poprawy:</a:t>
              </a:r>
              <a:endParaRPr b="1" sz="16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24"/>
            <p:cNvSpPr txBox="1"/>
            <p:nvPr/>
          </p:nvSpPr>
          <p:spPr>
            <a:xfrm>
              <a:off x="4905375" y="2000250"/>
              <a:ext cx="36672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więcej realnych nagrań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więcej trudnych negatywów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CBD5E1"/>
                </a:buClr>
                <a:buSzPts val="1300"/>
                <a:buFont typeface="Inter"/>
                <a:buChar char="●"/>
              </a:pPr>
              <a:r>
                <a:rPr b="0" lang="pl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testy na różnych mikrofonach i w różnych pomieszczeniach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